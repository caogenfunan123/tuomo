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今天的产品介绍会。今天我将向大家展示一款革命性的内容创作工具——拓墨。它不仅仅是一个Markdown编辑器，更是一个集AI辅助、多平台发布、数据同步于一体的全平台工作站，旨在重塑我们的内容创作与发布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介绍将分为五个部分。首先，我们将探讨拓墨的产品定位与核心价值。接着，会重点介绍其独特的双模式设计。然后，我们将深入了解各个主要功能模块。之后，会解析其技术架构与优势。最后，通过具体场景展示拓墨如何服务于不同的用户群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来看看拓墨的定位与价值。我们的愿景是为所有数字内容创作者打造一个终极工作站。拓墨精准定位为一款AI驱动的全平台一体化解决方案，它的核心价值在于“一体化”、“智能化”和“全平台”，旨在解决创作者在不同工具间频繁切换的痛点，通过AI提升效率，并提供跨平台的无缝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拓墨最大的创新在于其双模式设计。对于普通用户，我们提供了极致简洁的模式，让他们可以专注于创作本身。而对于专业开发者，我们开放了所有高级功能，让他们能够掌控一切，实现无限扩展。这种设计完美地平衡了易用性与专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这张表格清晰地对比了两种模式的差异。从界面复杂度到自定义能力，普通用户模式追求简洁高效，而专业开发者模式则提供了全方位的控制。无论你是哪类用户，都能在拓墨中找到最适合自己的工作方式。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接下来我们深入了解功能模块。首先是专业的Markdown编辑器。它提供了三种编辑模式，强大的语法高亮，深度集成的AI辅助，以及高度可定制的快捷键，为用户提供了极致的创作体验。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拓墨的AI系统远不止于简单的辅助。它支持多种主流AI模型，并具备智能容错机制。更强大的是，AI可以调用内置工具完成复杂任务，甚至可以通过学习你的文档来模仿你的写作风格，成为你真正的写作伙伴。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拓墨解决了多平台发布的痛点。它原生支持9大静态博客框架和多个主流动态CMS。你可以在一个地方完成创作，然后一键分发到全网。发布前还能进行预览和校验，确保内容完美呈现。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资源管理、同步和安全方面，拓墨同样表现出色。它内置图床，支持多种同步方案，包括创新的P2P同步。更重要的是，我们采用银行级的加密标准，确保你的数据在传输和存储过程中绝对安全，并且提供无限版本历史，让你无惧误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切强大功能的背后，是坚实的技术架构。拓墨基于Flutter框架，保证了跨平台的一致性和高性能。采用MVVM架构，使得代码易于维护和扩展。在安全方面，我们采用银行级的AES-256加密标准，并承诺核心模块逐步开源，确保技术实现的透明和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看看拓墨在实际场景中的应用。对于普通写作者，它能极大地提升效率，让他们专注于表达。对于专业开发者，它提供了前所未有的控制力，让他们能释放全部潜能，打造独一无二的个人品牌。无论你是谁，拓墨都能满足你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我的介绍到此结束。感谢大家的聆听。拓墨正在重塑内容创作的未来，我们期待与各位一同开启高效、智能、自由的创作新篇章。谢谢！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4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5.jpeg" Type="http://schemas.openxmlformats.org/officeDocument/2006/relationships/image"/><Relationship Id="rId4" Target="../media/image36.jpeg" Type="http://schemas.openxmlformats.org/officeDocument/2006/relationships/image"/><Relationship Id="rId5" Target="../media/image37.jpeg" Type="http://schemas.openxmlformats.org/officeDocument/2006/relationships/image"/><Relationship Id="rId6" Target="../media/image38.jpeg" Type="http://schemas.openxmlformats.org/officeDocument/2006/relationships/image"/><Relationship Id="rId7" Target="../media/image39.jpe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5.jpeg" Type="http://schemas.openxmlformats.org/officeDocument/2006/relationships/image"/><Relationship Id="rId3" Target="../notesSlides/notesSlide12.xml" Type="http://schemas.openxmlformats.org/officeDocument/2006/relationships/notesSlide"/><Relationship Id="rId4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88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4318000"/>
            <a:ext cx="1092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AI驱动的全平台Markdown写作与博客发布工具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5715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智能润色 · 实时预览 · 多端同步 · 一键分发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841500" y="19304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产品定位与核心价值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重塑内容创作与发布流程，打造一站式智能协作平台，让创意落地更高效。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778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968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02500" y="19304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核心特色功能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独创“极简+专业”双模式设计，兼顾日常快速编辑与深度专业排版的双重需求。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492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41500" y="34544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主要功能模块详解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从智能编辑器、云端素材库到多端同步，全链路赋能极致的内容创作体验。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302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3492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02500" y="34544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技术架构与优势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基于微服务架构保障系统高可用，端到端加密技术筑牢数据安全与隐私的基石。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889500"/>
            <a:ext cx="10731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50800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841500" y="5041900"/>
            <a:ext cx="920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目标用户与应用场景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深度覆盖自媒体创作者、企业营销团队、教育培训机构等多元群体，精准满足从个人内容分享到企业级内容生产与分发的全场景需求。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产品定位与核心价值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重塑内容创作与发布流程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349500"/>
            <a:ext cx="1066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数字内容创作者打造打破工具壁垒的终极工作站，集创作、管理、发布于一体。作为AI驱动的全平台Markdown写作与博客发布一体化解决方案，拓墨兼顾写作者的创作流畅性与开发者的技术需求，重新定义高效内容生产的标准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810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39FF14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732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一体化 All-in-One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6355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告别多工具频繁切换的碎片化体验，实现从构思、编辑、排版到分发的一站式内容管理，大幅降低操作成本，让创作回归纯粹。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3810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39FF14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4064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181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智能化 AI-Powered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46355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内置全天候AI写作伙伴，提供智能补全、语法润色、选题灵感与风格转换，不仅提升效率，更赋予内容更高的专业度与可读性。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3810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39FF14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4064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630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全平台 Cross-Platform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05800" y="46355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基于Flutter构建，完美覆盖Windows、Mac、Linux及Web端。云端实时同步，随时随地打开设备即可无缝衔接，尽享创作自由。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核心特色功能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574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98600" y="20320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普通用户模式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专注创作本身，屏蔽技术细节，回归纯粹写作体验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适配人群：</a:t>
            </a:r>
            <a:r>
              <a:rPr lang="en-US" b="false" i="false" strike="noStrike" u="none" sz="1300">
                <a:solidFill>
                  <a:srgbClr val="EBEB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专为博主、学生、记者等非技术背景创作者打造，无需复杂配置，开箱即用。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1910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✨ 极简理念：</a:t>
            </a:r>
            <a:r>
              <a:rPr lang="en-US" b="false" i="false" strike="noStrike" u="none" sz="1300">
                <a:solidFill>
                  <a:srgbClr val="EBEB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剔除冗余功能，提供引导式操作与智能AI辅助，让创作更专注、更沉浸。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9530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🚀 高效发布：</a:t>
            </a:r>
            <a:r>
              <a:rPr lang="en-US" b="false" i="false" strike="noStrike" u="none" sz="1300">
                <a:solidFill>
                  <a:srgbClr val="EBEB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支持一键多平台分发，内置排版美化与格式转换，告别繁琐的后期调试。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574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59600" y="20320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专业开发者模式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2667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解锁底层能力，深度定制工作流，打造专属开发创作环境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34290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👨💻 适配人群：</a:t>
            </a:r>
            <a:r>
              <a:rPr lang="en-US" b="false" i="false" strike="noStrike" u="none" sz="1300">
                <a:solidFill>
                  <a:srgbClr val="EBEB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面向程序员、开源维护者及技术博主，满足对工具深度定制与扩展的需求。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1910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🔧 代码掌控：</a:t>
            </a:r>
            <a:r>
              <a:rPr lang="en-US" b="false" i="false" strike="noStrike" u="none" sz="1300">
                <a:solidFill>
                  <a:srgbClr val="EBEB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开放高级配置面板与内核接口，支持自定义脚本、插件开发与自动化脚本调用。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9530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🔗 生态集成：</a:t>
            </a:r>
            <a:r>
              <a:rPr lang="en-US" b="false" i="false" strike="noStrike" u="none" sz="1300">
                <a:solidFill>
                  <a:srgbClr val="EBEB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无缝对接Git、Docker及各类IDE，实现开发、文档编写、部署与版本管理的一体化。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核心特色功能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普通用户模式</a:t>
            </a: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极简高效 · 专注创作本身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416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5654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极简交互与一键发布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剔除冗余干扰，界面聚焦核心创作功能；图形化操作告别复杂配置，内容发布一键完成，让创作回归纯粹。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746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9751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87500" y="38989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智能辅助与无忧备份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续写、润色文案，大幅提升写作效率；系统自动同步数据，支持一键云端备份，双重保障告别数据丢失。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086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87500" y="52324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可视化资源管理体系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内置可视化图床工具，图片上传、分类、调用全流程可视化，无需复杂命令，素材管理直观高效。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6510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专业开发者模式</a:t>
            </a: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全量控制 · 极致自定义体验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413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26416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048500" y="25654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多端部署与深度配置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支持图形化+配置文件+脚本的灵活部署；完美适配 Git、WebDAV、P2P 等高级同步方案，数据流转自由可控。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746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39751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38989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代码级 AI 协同与调试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在写作辅助基础上，新增 AI 代码生成、语法解释与调试功能，为技术文档撰写、代码注释提供专业支撑。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53086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048500" y="52324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全链路自定义与系统级访问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支持文件系统级资源访问，主题、模板、工作流均可深度定制；完美适配开发者的个性化开发与扩展需求。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主要功能模块详解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专业Markdown编辑器：为极致创作体验而生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6924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多模式灵活编辑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2004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支持所见即所得（WYSIWYG）、纯源代码、左右分屏三种模式，一键切换，兼顾直观预览与专业代码级的精细控制。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413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667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48500" y="26924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全栈式语法高亮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32004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完美支持标准Markdown语法渲染，内置超过100种主流编程语言的代码块高亮引擎，让技术文档与代码展示清晰易读。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08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87500" y="47879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深度AI辅助集成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2959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集成智能补全、文本润色、中英文互译及AI对话功能，将AI的创造力融入写作全流程，大幅提升内容生产效率。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508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762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47879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极致个性化定制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52959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原生支持Emacs、Vim等经典编辑风格，所有快捷键均可自由自定义，配合丰富的主题与插件，打造专属创作环境。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主要功能模块详解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全功能AI写作系统：不止于辅助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667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00200" y="2667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多模型智能切换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175000"/>
            <a:ext cx="459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内置并支持无缝切换GPT-4o、Claude 3、Gemini等主流AI模型，可根据创作场景自动匹配或手动选择，兼顾速度与生成质量。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413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667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61200" y="2667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高可用智能容错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27800" y="3175000"/>
            <a:ext cx="459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当主模型服务异常或响应缓慢时，系统毫秒级自动切换至备用模型，确保内容生成流程零中断，避免创作节奏被打乱。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57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600200" y="457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多工具协同增强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66800" y="5080000"/>
            <a:ext cx="459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AI不仅能写，更能调用内置工具箱，自动完成字数统计、关键信息提取、内容摘要生成等辅助任务，提升创作全流程效率。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31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572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61200" y="457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专属风格迁移训练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27800" y="5080000"/>
            <a:ext cx="459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支持上传个人历史文档与写作素材，让AI深度学习并复刻你的行文逻辑、措辞习惯与独特文风，打造独一无二的私人写作伙伴。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主要功能模块详解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多站点统一发布：一次创作，全网分发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603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静态框架原生兼容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048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深度适配 Hexo、Hugo、VuePress 等 9+ 主流静态博客框架，无需修改现有项目结构，解析配置文件并自动完成编译与发布流程。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2413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97400" y="2603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动态CMS 无缝对接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97400" y="3048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 REST API 接口，直连 WordPress、Ghost、Medium 等平台。自动同步文章内容、分类标签与封面图，保持多端数据实时一致。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51800" y="2413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42300" y="2603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 智能预览与合规校验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42300" y="3048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发布前模拟目标站点渲染效果，可视化预览排版。内置智能检查器，自动扫描死链、图片缺失及格式兼容性问题，确保内容完美上线。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69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生态兼容矩阵：覆盖主流建站与内容平台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52705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2794000" y="52705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4826000" y="52705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rcRect l="0" r="0" t="1105" b="1105"/>
          <a:stretch>
            <a:fillRect/>
          </a:stretch>
        </p:blipFill>
        <p:spPr>
          <a:xfrm rot="0" flipH="false" flipV="false">
            <a:off x="6604000" y="52705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rcRect l="12500" r="12499" t="0" b="0"/>
          <a:stretch>
            <a:fillRect/>
          </a:stretch>
        </p:blipFill>
        <p:spPr>
          <a:xfrm rot="0" flipH="false" flipV="false">
            <a:off x="8382000" y="52705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10160000" y="52705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39FF14">
              <a:alpha val="15000"/>
            </a:srgbClr>
          </a:solidFill>
          <a:ln w="12700" cmpd="sng" cap="flat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0" y="52705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更多</a:t>
            </a: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主要功能模块详解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3495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图床与资源管理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1016013" y="304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238500"/>
            <a:ext cx="304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内置高性能图床引擎，支持阿里云OSS、腾讯云COS等第三方云存储灵活配置，轻松适配个人与团队的多样化资源托管需求。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支持资源自动归类、批量重命名与格式转换，搭配可视化的站点资源看板，实时监控存储占用与调用状态，让管理更高效。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2032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3495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30800" y="23495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多端数据同步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323" flipH="false" flipV="false">
            <a:off x="4572013" y="304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72000" y="3238500"/>
            <a:ext cx="304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</a:t>
            </a: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Git 版本控制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，实现多人协作的历史记录追溯与冲突解决，保障团队内容同步一致。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</a:t>
            </a: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WebDAV 协议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对接主流云盘，更有创新的</a:t>
            </a: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P2P 点对点同步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，设备直连传输，速度更快且数据隐私完全隔离。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874000" y="2032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28000" y="23495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86800" y="23495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安全与版本回溯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8128013" y="304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128000" y="3238500"/>
            <a:ext cx="304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采用银行级安全标准，全链路</a:t>
            </a: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端到端加密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配合本地 AES-256 高强度存储加密，即使设备丢失也能确保数据不被泄露。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</a:t>
            </a:r>
            <a:r>
              <a:rPr lang="en-US" b="true" i="false" strike="noStrike" u="none" sz="16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无限版本历史记录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，任意修改均可一键回溯，搭配工作区快照功能，轻松应对误操作与数据意外。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技术架构与优势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稳定、高效、安全的技术基石，赋能业务无限可能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34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跨平台原生体验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857500"/>
            <a:ext cx="3048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基于Flutter框架，利用Skia引擎实现60fps极致流畅渲染，体验媲美原生应用。一套代码库编译多端，大幅降低开发成本，提升迭代效率。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21590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34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MVVM 架构设计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2857500"/>
            <a:ext cx="3048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采用高内聚低耦合的分层架构，实现视图与逻辑分离。通过响应式数据绑定简化开发流程，业务逻辑独立可测，确保系统易于维护与扩展。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21590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91500" y="234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 金融级安全防护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91500" y="2857500"/>
            <a:ext cx="3048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采用AES-256高强度加密标准，配合严格的密钥管理机制。核心模块逐步开源，接受社区透明审查，全方位保障用户数据与系统安全。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33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274" r="274" t="0" b="0"/>
          <a:stretch>
            <a:fillRect/>
          </a:stretch>
        </p:blipFill>
        <p:spPr>
          <a:xfrm rot="0" flipH="false" flipV="false">
            <a:off x="952500" y="5613400"/>
            <a:ext cx="19812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3175000" y="5486400"/>
            <a:ext cx="812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我们以先进的技术架构为支撑，兼顾开发效率与系统稳健性。从底层的跨平台渲染到顶层的业务逻辑分层，再到金融级的安全保障，每一层设计都旨在为用户提供极致的产品体验与绝对的数据安全。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目标用户与应用场景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普通写作者</a:t>
            </a: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专注表达，高效产出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自由撰稿人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告别格式转换与图片管理的混乱，支持一键分发至多平台，让创作回归内容本身，不再被繁琐的工具操作打断思路。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3180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大学生群体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轻松实现严谨的学术格式排版，跨设备无缝衔接编辑，自动保存与历史版本回溯功能，从容应对论文与作业的反复修改。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21590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专业开发者</a:t>
            </a: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掌控流程，释放潜能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9845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开源项目维护者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文档与代码仓库深度联动，支持 Markdown 与代码块实时预览，实现文档与代码的同步更新，一键构建发布，提升维护效率。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3180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技术博主与极客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支持百种语言的专业代码高亮，完全自定义的博客主题与独立域名，数据私有可控，助你打造独一无二的技术分享阵地。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969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无论是记录灵感的随笔，还是构建复杂的技术文档，拓墨都能成为你创作路上最懂你的“智能伙伴”。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06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 spc="12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5245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拓墨 · 重塑内容创作的未来，开启高效、智能、自由的新篇章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{"Label":"1","ContentProducer":"001191110102MACQD9K64010000","ProduceID":"7673672143725923614","ReservedCode1":"","ContentPropagator":"","PropagateID":"","ReservedCode2":""}</vt:lpwstr>
  </property>
</Properties>
</file>